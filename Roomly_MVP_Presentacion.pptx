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A78BFA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7C3AED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48640"/>
            <a:ext cx="1280160" cy="1280160"/>
          </a:xfrm>
          <a:prstGeom prst="roundRect">
            <a:avLst>
              <a:gd name="adj" fmla="val 17857"/>
            </a:avLst>
          </a:prstGeom>
          <a:solidFill>
            <a:srgbClr val="A78BF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Roomly v2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comunidad, organizada.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40233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integral de reservas y gestión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torre Jardines de Sta Beatriz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5394960"/>
            <a:ext cx="4572000" cy="548640"/>
          </a:xfrm>
          <a:prstGeom prst="roundRect">
            <a:avLst>
              <a:gd name="adj" fmla="val 16667"/>
            </a:avLst>
          </a:prstGeom>
          <a:solidFill>
            <a:srgbClr val="A78BF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53949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MVP · Mayo 2026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6035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 de propietarios · 120 unidades · 20 pisos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Roomly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· 12 minutos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0" y="137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1069848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28016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280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28800" y="118872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en nuestra torre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31520" y="2148840"/>
            <a:ext cx="1069848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240280"/>
            <a:ext cx="594360" cy="59436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240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28800" y="214884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Roomly y cómo funciona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31520" y="3108960"/>
            <a:ext cx="1069848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200400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200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28800" y="310896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experiencia del propietario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31520" y="4069080"/>
            <a:ext cx="1069848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160520"/>
            <a:ext cx="594360" cy="59436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160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828800" y="406908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panel del administrador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31520" y="5029200"/>
            <a:ext cx="10698480" cy="77724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5120640"/>
            <a:ext cx="594360" cy="59436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120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828800" y="5029200"/>
            <a:ext cx="9144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y siguientes pasos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Roomly · MVP · Pág.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Roomly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en nuestra torre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0" y="137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reservamos así: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5486400" cy="1691640"/>
          </a:xfrm>
          <a:prstGeom prst="roundRect">
            <a:avLst>
              <a:gd name="adj" fmla="val 9730"/>
            </a:avLst>
          </a:prstGeom>
          <a:solidFill>
            <a:srgbClr val="1E1B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659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1920240" y="20116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20240" y="256032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que se pierden, sin trazabilidad ni orden.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783080"/>
            <a:ext cx="5486400" cy="1691640"/>
          </a:xfrm>
          <a:prstGeom prst="roundRect">
            <a:avLst>
              <a:gd name="adj" fmla="val 9730"/>
            </a:avLst>
          </a:prstGeom>
          <a:solidFill>
            <a:srgbClr val="1E1B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9659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🗒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7680960" y="20116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Cuadernos del conserje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80960" y="256032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Hojas perdidas, dobles reservas, ilegibles.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5486400" cy="1691640"/>
          </a:xfrm>
          <a:prstGeom prst="roundRect">
            <a:avLst>
              <a:gd name="adj" fmla="val 9730"/>
            </a:avLst>
          </a:prstGeom>
          <a:solidFill>
            <a:srgbClr val="1E1B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8862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1920240" y="39319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Departamentos que abusan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920240" y="448056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Reservan toda la semana sin reglas claras.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3703320"/>
            <a:ext cx="5486400" cy="1691640"/>
          </a:xfrm>
          <a:prstGeom prst="roundRect">
            <a:avLst>
              <a:gd name="adj" fmla="val 9730"/>
            </a:avLst>
          </a:prstGeom>
          <a:solidFill>
            <a:srgbClr val="1E1B2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8862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7680960" y="39319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de invitados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680960" y="448056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verificación: cualquiera puede ingresar.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Roomly · MVP · Pág.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Roomly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Roomly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0" y="137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que centraliza todo en un solo lugar.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solución 100% diseñada para nuestro tipo de edificio: 20 pisos, 6 departamentos por piso, 120 familias.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2697480" cy="36576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08760" y="2697480"/>
            <a:ext cx="822960" cy="8229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1508760" y="2697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" y="420624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en vivo, sin colisiones, con correlativo único C1-Rxxxx.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29000" y="2468880"/>
            <a:ext cx="2697480" cy="36576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0" y="2697480"/>
            <a:ext cx="822960" cy="8229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0" y="2697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611880" y="3657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57600" y="420624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personal por dueño + acceso temporal de 4 h para invitados.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2468880"/>
            <a:ext cx="2697480" cy="36576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69480" y="2697480"/>
            <a:ext cx="822960" cy="8229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7269480" y="2697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492240" y="3657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Convivencia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537960" y="420624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por cumplir, niveles y muro de la torre.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189720" y="2468880"/>
            <a:ext cx="2697480" cy="36576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49840" y="2697480"/>
            <a:ext cx="822960" cy="8229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10149840" y="2697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9372600" y="3657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418320" y="420624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para el admin con KPIs, sanciones y validación 0–100%.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Roomly · MVP · Pág.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Roomly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roles bien definidos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0" y="137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3657600" cy="4846320"/>
          </a:xfrm>
          <a:prstGeom prst="roundRect">
            <a:avLst>
              <a:gd name="adj" fmla="val 5000"/>
            </a:avLst>
          </a:prstGeom>
          <a:solidFill>
            <a:srgbClr val="1E1B2E"/>
          </a:solidFill>
          <a:ln w="25400">
            <a:solidFill>
              <a:srgbClr val="4C1D9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280160"/>
            <a:ext cx="3657600" cy="54864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2801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Administrador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(equipo Roomly)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37744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y desactiva administradores. Mantiene la base de datos de comunidades y usuarios.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206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Alta de admins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572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Recuperar contraseñas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937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Tabla de comunidades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5303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Auditoría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1280160"/>
            <a:ext cx="3657600" cy="4846320"/>
          </a:xfrm>
          <a:prstGeom prst="roundRect">
            <a:avLst>
              <a:gd name="adj" fmla="val 5000"/>
            </a:avLst>
          </a:prstGeom>
          <a:solidFill>
            <a:srgbClr val="1E1B2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0" y="1280160"/>
            <a:ext cx="365760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12801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63440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(uno por torre)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63440" y="237744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la comunidad, aprueba ingresos, define reglas, valida uso, sanciona y revisa métricas.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63440" y="4206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Crear comunidad (1)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63440" y="4572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Aprobar / rechazar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4937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Crear espacios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440" y="5303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Sanciones &amp; reglas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0" y="1280160"/>
            <a:ext cx="3657600" cy="4846320"/>
          </a:xfrm>
          <a:prstGeom prst="roundRect">
            <a:avLst>
              <a:gd name="adj" fmla="val 5000"/>
            </a:avLst>
          </a:prstGeom>
          <a:solidFill>
            <a:srgbClr val="1E1B2E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1280160"/>
            <a:ext cx="3657600" cy="5486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0" y="12801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/ Propietario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503920" y="1920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(120 vecinos)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03920" y="237744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espacios, cancela, comparte el QR con invitados y participa del muro de la torre.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503920" y="4206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Reservar espacios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503920" y="4572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QR de acceso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03920" y="4937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Invitado de 4 h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503920" y="5303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Mis reservas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Roomly · MVP · Pág.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Roomly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usa, paso a paso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0" y="137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propietario a reservante en menos de 5 minutos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1280160" cy="1280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8288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registro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" y="384048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Correo, clave, foto de perfil, foto DNI y celular verificado por SMS / WhatsApp.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31720" y="2331720"/>
            <a:ext cx="411480" cy="365760"/>
          </a:xfrm>
          <a:prstGeom prst="rightArrow">
            <a:avLst/>
          </a:prstGeom>
          <a:solidFill>
            <a:srgbClr val="A78BFA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0" y="1828800"/>
            <a:ext cx="1280160" cy="1280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8288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2743200" y="3291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Solicito mi torre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788920" y="384048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Elijo «Jardines de Sta Beatriz» y mi departamento (1502) desde un desplegable.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2331720"/>
            <a:ext cx="411480" cy="365760"/>
          </a:xfrm>
          <a:prstGeom prst="rightArrow">
            <a:avLst/>
          </a:prstGeom>
          <a:solidFill>
            <a:srgbClr val="A78BFA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0" y="1828800"/>
            <a:ext cx="1280160" cy="1280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0" y="18288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5029200" y="3291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admin aprueba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074920" y="384048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Recibo notificación con C1-S0008. Ya puedo reservar.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03720" y="2331720"/>
            <a:ext cx="411480" cy="365760"/>
          </a:xfrm>
          <a:prstGeom prst="rightArrow">
            <a:avLst/>
          </a:prstGeom>
          <a:solidFill>
            <a:srgbClr val="A78BFA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0" y="1828800"/>
            <a:ext cx="1280160" cy="1280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0" y="18288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600" dirty="0"/>
          </a:p>
        </p:txBody>
      </p:sp>
      <p:sp>
        <p:nvSpPr>
          <p:cNvPr id="25" name="Text 23"/>
          <p:cNvSpPr/>
          <p:nvPr/>
        </p:nvSpPr>
        <p:spPr>
          <a:xfrm>
            <a:off x="7315200" y="3291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 el espacio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360920" y="384048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Elijo Piscina · Sábado 06:00–07:00. Se confirma con C1-R0142.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89720" y="2331720"/>
            <a:ext cx="411480" cy="365760"/>
          </a:xfrm>
          <a:prstGeom prst="rightArrow">
            <a:avLst/>
          </a:prstGeom>
          <a:solidFill>
            <a:srgbClr val="A78BFA"/>
          </a:solidFill>
          <a:ln/>
        </p:spPr>
      </p:sp>
      <p:sp>
        <p:nvSpPr>
          <p:cNvPr id="28" name="Shape 26"/>
          <p:cNvSpPr/>
          <p:nvPr/>
        </p:nvSpPr>
        <p:spPr>
          <a:xfrm>
            <a:off x="10058400" y="1828800"/>
            <a:ext cx="1280160" cy="1280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0" y="18288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600" dirty="0"/>
          </a:p>
        </p:txBody>
      </p:sp>
      <p:sp>
        <p:nvSpPr>
          <p:cNvPr id="30" name="Text 28"/>
          <p:cNvSpPr/>
          <p:nvPr/>
        </p:nvSpPr>
        <p:spPr>
          <a:xfrm>
            <a:off x="9601200" y="3291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Cumplo y gano puntos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646920" y="384048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admin valida mi % de uso y subo a «Vecino Activo» (245 pts).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Roomly · MVP · Pág.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Roomly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Experiencia del propietario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0" y="137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reales de la versión MVP</a:t>
            </a:r>
            <a:endParaRPr lang="en-US" sz="1400" dirty="0"/>
          </a:p>
        </p:txBody>
      </p:sp>
      <p:pic>
        <p:nvPicPr>
          <p:cNvPr id="8" name="Image 0" descr="/sessions/compassionate-optimistic-edison/mnt/outputs/assets/mockup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325880"/>
            <a:ext cx="1920240" cy="3657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" y="507492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5074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54864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de clave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los 3 roles</a:t>
            </a:r>
            <a:endParaRPr lang="en-US" sz="1100" dirty="0"/>
          </a:p>
        </p:txBody>
      </p:sp>
      <p:pic>
        <p:nvPicPr>
          <p:cNvPr id="12" name="Image 1" descr="/sessions/compassionate-optimistic-edison/mnt/outputs/assets/mockup_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25880"/>
            <a:ext cx="1920240" cy="3657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434840" y="507492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/>
        </p:spPr>
      </p:sp>
      <p:sp>
        <p:nvSpPr>
          <p:cNvPr id="14" name="Text 10"/>
          <p:cNvSpPr/>
          <p:nvPr/>
        </p:nvSpPr>
        <p:spPr>
          <a:xfrm>
            <a:off x="4434840" y="5074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434840" y="54864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próxima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y puntos</a:t>
            </a:r>
            <a:endParaRPr lang="en-US" sz="1100" dirty="0"/>
          </a:p>
        </p:txBody>
      </p:sp>
      <p:pic>
        <p:nvPicPr>
          <p:cNvPr id="16" name="Image 2" descr="/sessions/compassionate-optimistic-edison/mnt/outputs/assets/mockup_book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1325880"/>
            <a:ext cx="1920240" cy="36576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229600" y="5074920"/>
            <a:ext cx="3657600" cy="91440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/>
        </p:spPr>
      </p:sp>
      <p:sp>
        <p:nvSpPr>
          <p:cNvPr id="18" name="Text 13"/>
          <p:cNvSpPr/>
          <p:nvPr/>
        </p:nvSpPr>
        <p:spPr>
          <a:xfrm>
            <a:off x="8229600" y="5074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Reservar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229600" y="54864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en vivo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correlativo único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Roomly · MVP · Pág.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Roomly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Panel del administrador &amp; QR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0" y="137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en un solo lugar para el comité de la torre</a:t>
            </a:r>
            <a:endParaRPr lang="en-US" sz="1400" dirty="0"/>
          </a:p>
        </p:txBody>
      </p:sp>
      <p:pic>
        <p:nvPicPr>
          <p:cNvPr id="8" name="Image 0" descr="/sessions/compassionate-optimistic-edison/mnt/outputs/assets/mockup_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280160"/>
            <a:ext cx="2377440" cy="4572000"/>
          </a:xfrm>
          <a:prstGeom prst="rect">
            <a:avLst/>
          </a:prstGeom>
        </p:spPr>
      </p:pic>
      <p:pic>
        <p:nvPicPr>
          <p:cNvPr id="9" name="Image 1" descr="/sessions/compassionate-optimistic-edison/mnt/outputs/assets/mockup_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280160"/>
            <a:ext cx="2377440" cy="4572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040880" y="1280160"/>
            <a:ext cx="48463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269480" y="1371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 pendientes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26948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Aceptar / rechazar con motivo (≤150 caracteres) en un tap.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040880" y="2057400"/>
            <a:ext cx="48463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26948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uso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7269480" y="2423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0-100% de cumplimiento por reserva.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040880" y="2834640"/>
            <a:ext cx="48463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269480" y="2926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Sanciones automáticas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26948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 por dpto + espacio durante un rango.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7040880" y="3611880"/>
            <a:ext cx="48463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269480" y="3703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726948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 de días + última reserva por dpto/espacio.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7040880" y="4389120"/>
            <a:ext cx="48463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269480" y="4480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del propietario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7269480" y="4754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escanea el conserje en la entrada.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7040880" y="5166360"/>
            <a:ext cx="48463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269480" y="5257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único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7269480" y="5532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Invitado o familiar por 4 horas.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Roomly · MVP · Pág.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Roomly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para Jardines de Sta Beatriz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0" y="137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2697480" cy="2103120"/>
          </a:xfrm>
          <a:prstGeom prst="roundRect">
            <a:avLst>
              <a:gd name="adj" fmla="val 8696"/>
            </a:avLst>
          </a:prstGeom>
          <a:solidFill>
            <a:srgbClr val="1E1B2E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5448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−70%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del admin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29000" y="1371600"/>
            <a:ext cx="2697480" cy="2103120"/>
          </a:xfrm>
          <a:prstGeom prst="roundRect">
            <a:avLst>
              <a:gd name="adj" fmla="val 8696"/>
            </a:avLst>
          </a:prstGeom>
          <a:solidFill>
            <a:srgbClr val="1E1B2E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55448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3520440" y="27432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duplicadas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371600"/>
            <a:ext cx="2697480" cy="2103120"/>
          </a:xfrm>
          <a:prstGeom prst="roundRect">
            <a:avLst>
              <a:gd name="adj" fmla="val 8696"/>
            </a:avLst>
          </a:prstGeom>
          <a:solidFill>
            <a:srgbClr val="1E1B2E"/>
          </a:solidFill>
          <a:ln w="25400">
            <a:solidFill>
              <a:srgbClr val="FACC1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55448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6400800" y="27432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89720" y="1371600"/>
            <a:ext cx="2697480" cy="2103120"/>
          </a:xfrm>
          <a:prstGeom prst="roundRect">
            <a:avLst>
              <a:gd name="adj" fmla="val 8696"/>
            </a:avLst>
          </a:prstGeom>
          <a:solidFill>
            <a:srgbClr val="1E1B2E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81160" y="155448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9281160" y="27432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familias en una sola plataforma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84048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94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3749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más cuadernos del conserje ni grupos de WhatsApp confusos.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34340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297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4251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propietario ve sus reservas y su QR personal en tiempo real.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484632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800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4754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comité valida el uso de cada espacio con foto y % de cumplimiento.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534924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5303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51560" y="5257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sanciones se aplican automáticamente — sin discusiones.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" y="585216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58064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51560" y="5760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vecino acumula puntos por cumplir y participar del muro.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Roomly · MVP · Pág.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12188952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Roomly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0" y="91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implementación · 12 semanas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0" y="137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234440"/>
            <a:ext cx="10698480" cy="4572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188720"/>
            <a:ext cx="777240" cy="777240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188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54480" y="1234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Fundaciones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1645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1–2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28016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Super-Admin · Recuperación clave · Auditoría · RLS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692640" y="132588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4C1D95"/>
          </a:solidFill>
          <a:ln/>
        </p:spPr>
      </p:sp>
      <p:sp>
        <p:nvSpPr>
          <p:cNvPr id="14" name="Text 12"/>
          <p:cNvSpPr/>
          <p:nvPr/>
        </p:nvSpPr>
        <p:spPr>
          <a:xfrm>
            <a:off x="9692640" y="13258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S/. 6 800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194560"/>
            <a:ext cx="1069848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148840"/>
            <a:ext cx="777240" cy="7772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148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1554480" y="2194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2606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3–5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24028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de torre · Cartilla · Solicitud + aprobación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92640" y="228600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9692640" y="228600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S/. 9 500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3154680"/>
            <a:ext cx="10698480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3108960"/>
            <a:ext cx="777240" cy="77724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1089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554480" y="3154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54480" y="3566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6–8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32004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+ correlativo C1-Rxxxx · Mis reservas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92640" y="324612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A78BFA"/>
          </a:solidFill>
          <a:ln/>
        </p:spPr>
      </p:sp>
      <p:sp>
        <p:nvSpPr>
          <p:cNvPr id="30" name="Text 28"/>
          <p:cNvSpPr/>
          <p:nvPr/>
        </p:nvSpPr>
        <p:spPr>
          <a:xfrm>
            <a:off x="9692640" y="32461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S/. 8 000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4114800"/>
            <a:ext cx="1069848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Shape 30"/>
          <p:cNvSpPr/>
          <p:nvPr/>
        </p:nvSpPr>
        <p:spPr>
          <a:xfrm>
            <a:off x="548640" y="4069080"/>
            <a:ext cx="777240" cy="7772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4069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1554480" y="4114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554480" y="4526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9–10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46320" y="416052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0-100% · Sanciones · Restricciones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692640" y="420624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9692640" y="42062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S/. 6 200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48640" y="5074920"/>
            <a:ext cx="10698480" cy="45720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40" name="Shape 38"/>
          <p:cNvSpPr/>
          <p:nvPr/>
        </p:nvSpPr>
        <p:spPr>
          <a:xfrm>
            <a:off x="548640" y="5029200"/>
            <a:ext cx="777240" cy="77724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41" name="Text 39"/>
          <p:cNvSpPr/>
          <p:nvPr/>
        </p:nvSpPr>
        <p:spPr>
          <a:xfrm>
            <a:off x="548640" y="5029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1554480" y="50749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554480" y="5486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11–12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46320" y="512064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conserje · Invitados · Métricas · Hardening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692640" y="5166360"/>
            <a:ext cx="1645920" cy="502920"/>
          </a:xfrm>
          <a:prstGeom prst="roundRect">
            <a:avLst>
              <a:gd name="adj" fmla="val 18182"/>
            </a:avLst>
          </a:prstGeom>
          <a:solidFill>
            <a:srgbClr val="FACC15"/>
          </a:solidFill>
          <a:ln/>
        </p:spPr>
      </p:sp>
      <p:sp>
        <p:nvSpPr>
          <p:cNvPr id="46" name="Text 44"/>
          <p:cNvSpPr/>
          <p:nvPr/>
        </p:nvSpPr>
        <p:spPr>
          <a:xfrm>
            <a:off x="9692640" y="51663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S/. 5 500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· 12 semanas · S/. 36 000  →  IVA y soporte por 6 meses incluidos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Roomly · MVP · Pág.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7315200" cy="7315200"/>
          </a:xfrm>
          <a:prstGeom prst="ellipse">
            <a:avLst/>
          </a:prstGeom>
          <a:solidFill>
            <a:srgbClr val="A78BFA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¿Listos para que la torre se organice sola?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365760" cy="36576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3840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de la junta de propietarios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343400"/>
            <a:ext cx="365760" cy="36576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343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4343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de la propuesta y cronograma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846320"/>
            <a:ext cx="365760" cy="36576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846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4846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de kick-off con el administrador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5349240"/>
            <a:ext cx="365760" cy="36576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5349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5349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de las 120 familias en 5 días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6035040"/>
            <a:ext cx="5029200" cy="548640"/>
          </a:xfrm>
          <a:prstGeom prst="roundRect">
            <a:avLst>
              <a:gd name="adj" fmla="val 16667"/>
            </a:avLst>
          </a:prstGeom>
          <a:solidFill>
            <a:srgbClr val="FACC15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6035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0E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Contacto: hola@roomly.app · 999 999 999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Roomly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Roomly v2 — MVP</dc:title>
  <dc:subject>PptxGenJS Presentation</dc:subject>
  <dc:creator>PptxGenJS</dc:creator>
  <cp:lastModifiedBy>PptxGenJS</cp:lastModifiedBy>
  <cp:revision>1</cp:revision>
  <dcterms:created xsi:type="dcterms:W3CDTF">2026-05-09T03:32:41Z</dcterms:created>
  <dcterms:modified xsi:type="dcterms:W3CDTF">2026-05-09T03:32:41Z</dcterms:modified>
</cp:coreProperties>
</file>